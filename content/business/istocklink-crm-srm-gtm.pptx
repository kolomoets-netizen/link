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48056"/>
            <a:ext cx="146304" cy="146304"/>
          </a:xfrm>
          <a:prstGeom prst="ellipse">
            <a:avLst/>
          </a:prstGeom>
          <a:solidFill>
            <a:srgbClr val="1C5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114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  <a:ea typeface="Calibri"/>
              </a:rPr>
              <a:t>iStockLink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65215" y="4114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8EAFFF"/>
                </a:solidFill>
                <a:latin typeface="Calibri"/>
                <a:ea typeface="Calibri"/>
              </a:rPr>
              <a:t>GO-TO-MARKET ·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EAFFF"/>
                </a:solidFill>
                <a:latin typeface="Calibri"/>
                <a:ea typeface="Calibri"/>
              </a:rPr>
              <a:t>БИЗНЕС-ПЛАН ПРОДВИЖЕНИЯ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  <a:ea typeface="Calibri"/>
              </a:rPr>
              <a:t>Анализ рынка и план
продвижения CRM + SRM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8B0BD"/>
                </a:solidFill>
                <a:latin typeface="Calibri"/>
                <a:ea typeface="Calibri"/>
              </a:rPr>
              <a:t>Деньги в каналы → SQL → оплаты. Калибровка на Яндекс Директе, сентябрь 2026.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846320"/>
            <a:ext cx="6858000" cy="109728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9834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C5CBD3"/>
                </a:solidFill>
                <a:latin typeface="Calibri"/>
                <a:ea typeface="Calibri"/>
              </a:rPr>
              <a:t>Продукт: iStockLink CRM + SRM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C5CBD3"/>
                </a:solidFill>
                <a:latin typeface="Calibri"/>
                <a:ea typeface="Calibri"/>
              </a:rPr>
              <a:t>Факт: CPL 3 447 ₽ · SQL 5 515 ₽ (сент. 2026)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C5CBD3"/>
                </a:solidFill>
                <a:latin typeface="Calibri"/>
                <a:ea typeface="Calibri"/>
              </a:rPr>
              <a:t>Версия 1.2 · октябрь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Calibri"/>
                <a:ea typeface="Calibri"/>
              </a:rPr>
              <a:t>iStockLink · GTM CRM+SRM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80015" y="647395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99999"/>
                </a:solidFill>
                <a:latin typeface="Calibri"/>
                <a:ea typeface="Calibri"/>
              </a:rPr>
              <a:t>01 / 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48056"/>
            <a:ext cx="146304" cy="146304"/>
          </a:xfrm>
          <a:prstGeom prst="ellipse">
            <a:avLst/>
          </a:prstGeom>
          <a:solidFill>
            <a:srgbClr val="1C5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114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0B0B"/>
                </a:solidFill>
                <a:latin typeface="Calibri"/>
                <a:ea typeface="Calibri"/>
              </a:rPr>
              <a:t>iStockLink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65215" y="4114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C50DE"/>
                </a:solidFill>
                <a:latin typeface="Calibri"/>
                <a:ea typeface="Calibri"/>
              </a:rPr>
              <a:t>СОДЕРЖАНИЕ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B0B0B"/>
                </a:solidFill>
                <a:latin typeface="Calibri"/>
                <a:ea typeface="Calibri"/>
              </a:rPr>
              <a:t>О чём этот файл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50DE"/>
                </a:solidFill>
                <a:latin typeface="Calibri"/>
                <a:ea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286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0B0B"/>
                </a:solidFill>
                <a:latin typeface="Calibri"/>
                <a:ea typeface="Calibri"/>
              </a:rPr>
              <a:t>Резюме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22860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667085"/>
                </a:solidFill>
                <a:latin typeface="Calibri"/>
                <a:ea typeface="Calibri"/>
              </a:rPr>
              <a:t>Рынок, окно, фокус на 12 месяцев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50DE"/>
                </a:solidFill>
                <a:latin typeface="Calibri"/>
                <a:ea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926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0B0B"/>
                </a:solidFill>
                <a:latin typeface="Calibri"/>
                <a:ea typeface="Calibri"/>
              </a:rPr>
              <a:t>Анализ рынка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9260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667085"/>
                </a:solidFill>
                <a:latin typeface="Calibri"/>
                <a:ea typeface="Calibri"/>
              </a:rPr>
              <a:t>CRM, SRM, ICP, конкуренты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661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50DE"/>
                </a:solidFill>
                <a:latin typeface="Calibri"/>
                <a:ea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566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0B0B"/>
                </a:solidFill>
                <a:latin typeface="Calibri"/>
                <a:ea typeface="Calibri"/>
              </a:rPr>
              <a:t>Деньги → результат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35661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667085"/>
                </a:solidFill>
                <a:latin typeface="Calibri"/>
                <a:ea typeface="Calibri"/>
              </a:rPr>
              <a:t>Сценарии бюджета A / B / 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06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50DE"/>
                </a:solidFill>
                <a:latin typeface="Calibri"/>
                <a:ea typeface="Calibr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206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0B0B"/>
                </a:solidFill>
                <a:latin typeface="Calibri"/>
                <a:ea typeface="Calibri"/>
              </a:rPr>
              <a:t>С Битрикс24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42062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667085"/>
                </a:solidFill>
                <a:latin typeface="Calibri"/>
                <a:ea typeface="Calibri"/>
              </a:rPr>
              <a:t>Функции, TCO, когда что выбирать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846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50DE"/>
                </a:solidFill>
                <a:latin typeface="Calibri"/>
                <a:ea typeface="Calibri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846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0B0B"/>
                </a:solidFill>
                <a:latin typeface="Calibri"/>
                <a:ea typeface="Calibri"/>
              </a:rPr>
              <a:t>Что нужно от вас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48463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667085"/>
                </a:solidFill>
                <a:latin typeface="Calibri"/>
                <a:ea typeface="Calibri"/>
              </a:rPr>
              <a:t>Выгрузки рекламы и касаний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Содержание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0015" y="647395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02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48056"/>
            <a:ext cx="146304" cy="146304"/>
          </a:xfrm>
          <a:prstGeom prst="ellipse">
            <a:avLst/>
          </a:prstGeom>
          <a:solidFill>
            <a:srgbClr val="1C5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114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0B0B"/>
                </a:solidFill>
                <a:latin typeface="Calibri"/>
                <a:ea typeface="Calibri"/>
              </a:rPr>
              <a:t>iStockLink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65215" y="4114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C50DE"/>
                </a:solidFill>
                <a:latin typeface="Calibri"/>
                <a:ea typeface="Calibri"/>
              </a:rPr>
              <a:t>РЕЗЮМЕ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B0B0B"/>
                </a:solidFill>
                <a:latin typeface="Calibri"/>
                <a:ea typeface="Calibri"/>
              </a:rPr>
              <a:t>Ниша между CRM-комбайном и тяжёлым SRM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67085"/>
                </a:solidFill>
                <a:latin typeface="Calibri"/>
                <a:ea typeface="Calibri"/>
              </a:rPr>
              <a:t>Один контур: сделка → запрос КП → поставка. Без проекта внедрения.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17520"/>
            <a:ext cx="352044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24612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C50DE"/>
                </a:solidFill>
                <a:latin typeface="Calibri"/>
                <a:ea typeface="Calibri"/>
              </a:rPr>
              <a:t>~44 млрд 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0233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Calibri"/>
                <a:ea typeface="Calibri"/>
              </a:rPr>
              <a:t>Рынок CRM РФ, 2025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Calibri"/>
                <a:ea typeface="Calibri"/>
              </a:rPr>
              <a:t>TAdviser, +25% г/г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3017520"/>
            <a:ext cx="352044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324612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C50DE"/>
                </a:solidFill>
                <a:latin typeface="Calibri"/>
                <a:ea typeface="Calibri"/>
              </a:rPr>
              <a:t>~3,5 млрд 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0233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Calibri"/>
                <a:ea typeface="Calibri"/>
              </a:rPr>
              <a:t>Рынок SRM РФ, 2025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Calibri"/>
                <a:ea typeface="Calibri"/>
              </a:rPr>
              <a:t>Kept / TAdviser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017520"/>
            <a:ext cx="352044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324612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C50DE"/>
                </a:solidFill>
                <a:latin typeface="Calibri"/>
                <a:ea typeface="Calibri"/>
              </a:rPr>
              <a:t>1 день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40233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Calibri"/>
                <a:ea typeface="Calibri"/>
              </a:rPr>
              <a:t>Старт iStockLink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Calibri"/>
                <a:ea typeface="Calibri"/>
              </a:rPr>
              <a:t>vs недели у Битрикс + внедрение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Резюме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80015" y="647395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03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48056"/>
            <a:ext cx="146304" cy="146304"/>
          </a:xfrm>
          <a:prstGeom prst="ellipse">
            <a:avLst/>
          </a:prstGeom>
          <a:solidFill>
            <a:srgbClr val="1C5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114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0B0B"/>
                </a:solidFill>
                <a:latin typeface="Calibri"/>
                <a:ea typeface="Calibri"/>
              </a:rPr>
              <a:t>iStockLink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65215" y="4114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C50DE"/>
                </a:solidFill>
                <a:latin typeface="Calibri"/>
                <a:ea typeface="Calibri"/>
              </a:rPr>
              <a:t>РЕЗЮМЕ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B0B0B"/>
                </a:solidFill>
                <a:latin typeface="Calibri"/>
                <a:ea typeface="Calibri"/>
              </a:rPr>
              <a:t>Ключевые выводы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10911535" cy="77724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50DE"/>
                </a:solidFill>
                <a:latin typeface="Calibri"/>
                <a:ea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87168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B0B0B"/>
                </a:solidFill>
                <a:latin typeface="Calibri"/>
                <a:ea typeface="Calibri"/>
              </a:rPr>
              <a:t>Спрос на отечественные CRM и закупки растёт.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00400"/>
            <a:ext cx="10911535" cy="77724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3832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50DE"/>
                </a:solidFill>
                <a:latin typeface="Calibri"/>
                <a:ea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401568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B0B0B"/>
                </a:solidFill>
                <a:latin typeface="Calibri"/>
                <a:ea typeface="Calibri"/>
              </a:rPr>
              <a:t>Средний бизнес платит за Битрикс дважды: лицензия + внедрение 150–600 тыс. ₽.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14800"/>
            <a:ext cx="10911535" cy="77724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2976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50DE"/>
                </a:solidFill>
                <a:latin typeface="Calibri"/>
                <a:ea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315968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B0B0B"/>
                </a:solidFill>
                <a:latin typeface="Calibri"/>
                <a:ea typeface="Calibri"/>
              </a:rPr>
              <a:t>SRM растёт быстрее CRM, но тяжёл для mid-market.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029200"/>
            <a:ext cx="10911535" cy="77724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2120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50DE"/>
                </a:solidFill>
                <a:latin typeface="Calibri"/>
                <a:ea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5230368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B0B0B"/>
                </a:solidFill>
                <a:latin typeface="Calibri"/>
                <a:ea typeface="Calibri"/>
              </a:rPr>
              <a:t>Окно iStockLink: 15–150 сотрудников, продажи + регулярные закупки/торги.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Выводы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80015" y="647395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04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48056"/>
            <a:ext cx="146304" cy="146304"/>
          </a:xfrm>
          <a:prstGeom prst="ellipse">
            <a:avLst/>
          </a:prstGeom>
          <a:solidFill>
            <a:srgbClr val="1C5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114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0B0B"/>
                </a:solidFill>
                <a:latin typeface="Calibri"/>
                <a:ea typeface="Calibri"/>
              </a:rPr>
              <a:t>iStockLink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65215" y="4114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C50DE"/>
                </a:solidFill>
                <a:latin typeface="Calibri"/>
                <a:ea typeface="Calibri"/>
              </a:rPr>
              <a:t>РЫНОК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B0B0B"/>
                </a:solidFill>
                <a:latin typeface="Calibri"/>
                <a:ea typeface="Calibri"/>
              </a:rPr>
              <a:t>Рынок CRM в России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194560"/>
          <a:ext cx="109728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3657600"/>
                <a:gridCol w="3474720"/>
              </a:tblGrid>
              <a:tr h="5791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Показатель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Оценка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Источник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Объём CRM, 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~35,3 млрд 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TAdviser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Объём CRM, 2025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~44,1 млрд ₽ (+25%)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TAdviser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Комплексные CRM,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~20,5 млрд 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Kept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Прогноз к 2032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~46,1 млрд ₽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Kept, CAGR ~12%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Лидеры восприятия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Битрикс24, amoCRM, 1С…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Универсальные платформы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Рынок CRM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47395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05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48056"/>
            <a:ext cx="146304" cy="146304"/>
          </a:xfrm>
          <a:prstGeom prst="ellipse">
            <a:avLst/>
          </a:prstGeom>
          <a:solidFill>
            <a:srgbClr val="1C5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114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0B0B"/>
                </a:solidFill>
                <a:latin typeface="Calibri"/>
                <a:ea typeface="Calibri"/>
              </a:rPr>
              <a:t>iStockLink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65215" y="4114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C50DE"/>
                </a:solidFill>
                <a:latin typeface="Calibri"/>
                <a:ea typeface="Calibri"/>
              </a:rPr>
              <a:t>РЫНОК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B0B0B"/>
                </a:solidFill>
                <a:latin typeface="Calibri"/>
                <a:ea typeface="Calibri"/>
              </a:rPr>
              <a:t>Рынок SRM и автоматизации закупок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194560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3474720"/>
                <a:gridCol w="3383280"/>
              </a:tblGrid>
              <a:tr h="5486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Показатель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Оценка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Источник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SRM РФ,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~3,5 млрд 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Kept / TAdviser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CAGR SRM 2020–2025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~30,6%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Kept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Автоматизация закупок, 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~11,5 млрд 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Data Insight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Прогноз к 2030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~18,7 млрд ₽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Data Insight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Penetration спецПО закупок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~29% mid/large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Росстат / Kept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Рынок SRM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47395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06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48056"/>
            <a:ext cx="146304" cy="146304"/>
          </a:xfrm>
          <a:prstGeom prst="ellipse">
            <a:avLst/>
          </a:prstGeom>
          <a:solidFill>
            <a:srgbClr val="1C5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114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0B0B"/>
                </a:solidFill>
                <a:latin typeface="Calibri"/>
                <a:ea typeface="Calibri"/>
              </a:rPr>
              <a:t>iStockLink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65215" y="4114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C50DE"/>
                </a:solidFill>
                <a:latin typeface="Calibri"/>
                <a:ea typeface="Calibri"/>
              </a:rPr>
              <a:t>ICP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B0B0B"/>
                </a:solidFill>
                <a:latin typeface="Calibri"/>
                <a:ea typeface="Calibri"/>
              </a:rPr>
              <a:t>Кому продаём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94560"/>
            <a:ext cx="530352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50DE"/>
                </a:solidFill>
                <a:latin typeface="Calibri"/>
                <a:ea typeface="Calibri"/>
              </a:rPr>
              <a:t>Primary ICP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0B0B0B"/>
                </a:solidFill>
                <a:latin typeface="Calibri"/>
                <a:ea typeface="Calibri"/>
              </a:rPr>
              <a:t>• B2B / B2G, 15–150 сотрудников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0B0B0B"/>
                </a:solidFill>
                <a:latin typeface="Calibri"/>
                <a:ea typeface="Calibri"/>
              </a:rPr>
              <a:t>• Отдел продаж + регулярные закупки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0B0B0B"/>
                </a:solidFill>
                <a:latin typeface="Calibri"/>
                <a:ea typeface="Calibri"/>
              </a:rPr>
              <a:t>• Сейчас: Excel / «сырой» Битрикс24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0B0B0B"/>
                </a:solidFill>
                <a:latin typeface="Calibri"/>
                <a:ea typeface="Calibri"/>
              </a:rPr>
              <a:t>• Боли: потеря сделок, ручной сбор КП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194560"/>
            <a:ext cx="530352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3774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50DE"/>
                </a:solidFill>
                <a:latin typeface="Calibri"/>
                <a:ea typeface="Calibri"/>
              </a:rPr>
              <a:t>Secondary ICP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92608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0B0B0B"/>
                </a:solidFill>
                <a:latin typeface="Calibri"/>
                <a:ea typeface="Calibri"/>
              </a:rPr>
              <a:t>• Торговля / производство под клиента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0B0B0B"/>
                </a:solidFill>
                <a:latin typeface="Calibri"/>
                <a:ea typeface="Calibri"/>
              </a:rPr>
              <a:t>• Тендерные команды in-house / outsource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0B0B0B"/>
                </a:solidFill>
                <a:latin typeface="Calibri"/>
                <a:ea typeface="Calibri"/>
              </a:rPr>
              <a:t>• Переход с Битрикс без бюджета на интегратора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0B0B0B"/>
                </a:solidFill>
                <a:latin typeface="Calibri"/>
                <a:ea typeface="Calibri"/>
              </a:rPr>
              <a:t>• Нужны Контур / Seldon в том же контуре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ICP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80015" y="647395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07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48056"/>
            <a:ext cx="146304" cy="146304"/>
          </a:xfrm>
          <a:prstGeom prst="ellipse">
            <a:avLst/>
          </a:prstGeom>
          <a:solidFill>
            <a:srgbClr val="1C5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114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0B0B"/>
                </a:solidFill>
                <a:latin typeface="Calibri"/>
                <a:ea typeface="Calibri"/>
              </a:rPr>
              <a:t>iStockLink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65215" y="4114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C50DE"/>
                </a:solidFill>
                <a:latin typeface="Calibri"/>
                <a:ea typeface="Calibri"/>
              </a:rPr>
              <a:t>КОНКУРЕНТЫ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B0B0B"/>
                </a:solidFill>
                <a:latin typeface="Calibri"/>
                <a:ea typeface="Calibri"/>
              </a:rPr>
              <a:t>Конкурентная карта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103120"/>
          <a:ext cx="109728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474720"/>
                <a:gridCol w="4297680"/>
              </a:tblGrid>
              <a:tr h="76809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Кластер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Примеры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Слабость vs iStockLink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Универсальные CRM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Битрикс24, amoCRM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SRM/КП — доработка; долгое внедрение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Тяжёлые SRM / S2P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Norbit, ELMA365…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Дорого, слабо связано с продажами SMB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Агрегаторы тендеров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Контур, Seldon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Нет CRM/SRM-операционки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Excel + почта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Статус-кво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Нет контроля и масштаба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Конкуренты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47395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08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48056"/>
            <a:ext cx="146304" cy="146304"/>
          </a:xfrm>
          <a:prstGeom prst="ellipse">
            <a:avLst/>
          </a:prstGeom>
          <a:solidFill>
            <a:srgbClr val="1C5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114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  <a:ea typeface="Calibri"/>
              </a:rPr>
              <a:t>iStockLink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65215" y="4114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8EAFFF"/>
                </a:solidFill>
                <a:latin typeface="Calibri"/>
                <a:ea typeface="Calibri"/>
              </a:rPr>
              <a:t>ПОЗИЦИОНИРОВАНИЕ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  <a:ea typeface="Calibri"/>
              </a:rPr>
              <a:t>CRM + SRM в одном окне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8B0BD"/>
                </a:solidFill>
                <a:latin typeface="Calibri"/>
                <a:ea typeface="Calibri"/>
              </a:rPr>
              <a:t>Не «ещё одна CRM». Снижение TCO и ускорение цикла «клиент → поставка».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89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EAFFF"/>
                </a:solidFill>
                <a:latin typeface="Calibri"/>
                <a:ea typeface="Calibri"/>
              </a:rPr>
              <a:t>Против: Excel · пустой Битрикс24 · разрозненные агрегаторы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Calibri"/>
                <a:ea typeface="Calibri"/>
              </a:rPr>
              <a:t>Позиционирование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7395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99999"/>
                </a:solidFill>
                <a:latin typeface="Calibri"/>
                <a:ea typeface="Calibri"/>
              </a:rPr>
              <a:t>09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48056"/>
            <a:ext cx="146304" cy="146304"/>
          </a:xfrm>
          <a:prstGeom prst="ellipse">
            <a:avLst/>
          </a:prstGeom>
          <a:solidFill>
            <a:srgbClr val="1C5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114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0B0B"/>
                </a:solidFill>
                <a:latin typeface="Calibri"/>
                <a:ea typeface="Calibri"/>
              </a:rPr>
              <a:t>iStockLink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65215" y="4114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C50DE"/>
                </a:solidFill>
                <a:latin typeface="Calibri"/>
                <a:ea typeface="Calibri"/>
              </a:rPr>
              <a:t>ЦЕЛИ 12 МЕС.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B0B0B"/>
                </a:solidFill>
                <a:latin typeface="Calibri"/>
                <a:ea typeface="Calibri"/>
              </a:rPr>
              <a:t>Цели продвижения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194560"/>
          <a:ext cx="10972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3840480"/>
                <a:gridCol w="3017520"/>
              </a:tblGrid>
              <a:tr h="6096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Цель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Метрика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Ориентир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Квалифицированные демо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SQL / мес к M12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40–60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Конверсия демо → оплата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Win rate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20–30%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Новые платящие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Paid logos / год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80–120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Переходы с Битрикс24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% новых клиентов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≥25%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Удержание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Logo retention 12 мес.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≥85%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Цели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47395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48056"/>
            <a:ext cx="146304" cy="146304"/>
          </a:xfrm>
          <a:prstGeom prst="ellipse">
            <a:avLst/>
          </a:prstGeom>
          <a:solidFill>
            <a:srgbClr val="1C5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114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  <a:ea typeface="Calibri"/>
              </a:rPr>
              <a:t>iStockLink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65215" y="4114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8EAFFF"/>
                </a:solidFill>
                <a:latin typeface="Calibri"/>
                <a:ea typeface="Calibri"/>
              </a:rPr>
              <a:t>ФАКТ · СЕНТЯБРЬ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  <a:ea typeface="Calibri"/>
              </a:rPr>
              <a:t>Яндекс Директ: что уже работает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17520"/>
            <a:ext cx="2651760" cy="219456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2918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50DE"/>
                </a:solidFill>
                <a:latin typeface="Calibri"/>
                <a:ea typeface="Calibri"/>
              </a:rPr>
              <a:t>27 576 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148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B0BD"/>
                </a:solidFill>
                <a:latin typeface="Calibri"/>
                <a:ea typeface="Calibri"/>
              </a:rPr>
              <a:t>расход за месяц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3017520"/>
            <a:ext cx="2651760" cy="219456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32918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50DE"/>
                </a:solidFill>
                <a:latin typeface="Calibri"/>
                <a:ea typeface="Calibri"/>
              </a:rPr>
              <a:t>8 лидов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41148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B0BD"/>
                </a:solidFill>
                <a:latin typeface="Calibri"/>
                <a:ea typeface="Calibri"/>
              </a:rPr>
              <a:t>CPL 3 447 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017520"/>
            <a:ext cx="2651760" cy="219456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2918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50DE"/>
                </a:solidFill>
                <a:latin typeface="Calibri"/>
                <a:ea typeface="Calibri"/>
              </a:rPr>
              <a:t>5 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1148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B0BD"/>
                </a:solidFill>
                <a:latin typeface="Calibri"/>
                <a:ea typeface="Calibri"/>
              </a:rPr>
              <a:t>5 515 ₽ / SQL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3017520"/>
            <a:ext cx="2651760" cy="219456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20" y="32918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50DE"/>
                </a:solidFill>
                <a:latin typeface="Calibri"/>
                <a:ea typeface="Calibri"/>
              </a:rPr>
              <a:t>62%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41148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B0BD"/>
                </a:solidFill>
                <a:latin typeface="Calibri"/>
                <a:ea typeface="Calibri"/>
              </a:rPr>
              <a:t>Lead → 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Calibri"/>
                <a:ea typeface="Calibri"/>
              </a:rPr>
              <a:t>Факт Директа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80015" y="647395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99999"/>
                </a:solidFill>
                <a:latin typeface="Calibri"/>
                <a:ea typeface="Calibri"/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48056"/>
            <a:ext cx="146304" cy="146304"/>
          </a:xfrm>
          <a:prstGeom prst="ellipse">
            <a:avLst/>
          </a:prstGeom>
          <a:solidFill>
            <a:srgbClr val="1C5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114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0B0B"/>
                </a:solidFill>
                <a:latin typeface="Calibri"/>
                <a:ea typeface="Calibri"/>
              </a:rPr>
              <a:t>iStockLink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65215" y="4114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C50DE"/>
                </a:solidFill>
                <a:latin typeface="Calibri"/>
                <a:ea typeface="Calibri"/>
              </a:rPr>
              <a:t>МОДЕЛЬ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B0B0B"/>
                </a:solidFill>
                <a:latin typeface="Calibri"/>
                <a:ea typeface="Calibri"/>
              </a:rPr>
              <a:t>Допущения после калибровки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194560"/>
          <a:ext cx="10972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3200400"/>
                <a:gridCol w="4297680"/>
              </a:tblGrid>
              <a:tr h="6096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Параметр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Значение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Комментарий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ACV команды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120 000 ₽ / год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Уточнить по факту сделок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Cost / SQL сейчас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~5 500 ₽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Факт сентября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Cost / SQL при масштабе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6–10 тыс. 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Рост аукциона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Lead → SQL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62%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5 из 8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SQL → оплата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15% / 22% / 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Факта закрытий пока нет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Допущения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47395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48056"/>
            <a:ext cx="146304" cy="146304"/>
          </a:xfrm>
          <a:prstGeom prst="ellipse">
            <a:avLst/>
          </a:prstGeom>
          <a:solidFill>
            <a:srgbClr val="1C5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114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0B0B"/>
                </a:solidFill>
                <a:latin typeface="Calibri"/>
                <a:ea typeface="Calibri"/>
              </a:rPr>
              <a:t>iStockLink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65215" y="4114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C50DE"/>
                </a:solidFill>
                <a:latin typeface="Calibri"/>
                <a:ea typeface="Calibri"/>
              </a:rPr>
              <a:t>СЦЕНАРИИ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B0B0B"/>
                </a:solidFill>
                <a:latin typeface="Calibri"/>
                <a:ea typeface="Calibri"/>
              </a:rPr>
              <a:t>Если столько денег — такой результат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352044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50DE"/>
                </a:solidFill>
                <a:latin typeface="Calibri"/>
                <a:ea typeface="Calibri"/>
              </a:rPr>
              <a:t>A · Разогрев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0B0B"/>
                </a:solidFill>
                <a:latin typeface="Calibri"/>
                <a:ea typeface="Calibri"/>
              </a:rPr>
              <a:t>150 тыс ₽/мес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47472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Calibri"/>
                <a:ea typeface="Calibri"/>
              </a:rPr>
              <a:t>SQL ~300 / год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Calibri"/>
                <a:ea typeface="Calibri"/>
              </a:rPr>
              <a:t>~66 оплат* при win 22%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Calibri"/>
                <a:ea typeface="Calibri"/>
              </a:rPr>
              <a:t>Выручка: ~7,9 млн ₽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Calibri"/>
                <a:ea typeface="Calibri"/>
              </a:rPr>
              <a:t>Рекомендуемый следующий шаг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148840"/>
            <a:ext cx="352044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331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50DE"/>
                </a:solidFill>
                <a:latin typeface="Calibri"/>
                <a:ea typeface="Calibri"/>
              </a:rPr>
              <a:t>B · База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8803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0B0B"/>
                </a:solidFill>
                <a:latin typeface="Calibri"/>
                <a:ea typeface="Calibri"/>
              </a:rPr>
              <a:t>300 тыс ₽/мес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47472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Calibri"/>
                <a:ea typeface="Calibri"/>
              </a:rPr>
              <a:t>SQL ~480 / год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Calibri"/>
                <a:ea typeface="Calibri"/>
              </a:rPr>
              <a:t>~106 оплат* при win 22%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Calibri"/>
                <a:ea typeface="Calibri"/>
              </a:rPr>
              <a:t>Выручка: ~12,7 млн ₽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Calibri"/>
                <a:ea typeface="Calibri"/>
              </a:rPr>
              <a:t>После фиксации win 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148840"/>
            <a:ext cx="352044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2331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50DE"/>
                </a:solidFill>
                <a:latin typeface="Calibri"/>
                <a:ea typeface="Calibri"/>
              </a:rPr>
              <a:t>C · Рост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8803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0B0B"/>
                </a:solidFill>
                <a:latin typeface="Calibri"/>
                <a:ea typeface="Calibri"/>
              </a:rPr>
              <a:t>600 тыс ₽/мес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47472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Calibri"/>
                <a:ea typeface="Calibri"/>
              </a:rPr>
              <a:t>SQL ~720 / год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Calibri"/>
                <a:ea typeface="Calibri"/>
              </a:rPr>
              <a:t>~158 оплат* при win 22%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Calibri"/>
                <a:ea typeface="Calibri"/>
              </a:rPr>
              <a:t>Выручка: ~19 млн ₽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Calibri"/>
                <a:ea typeface="Calibri"/>
              </a:rPr>
              <a:t>Нужны сайт + 2+ продавца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Сценарии A/B/C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80015" y="647395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48056"/>
            <a:ext cx="146304" cy="146304"/>
          </a:xfrm>
          <a:prstGeom prst="ellipse">
            <a:avLst/>
          </a:prstGeom>
          <a:solidFill>
            <a:srgbClr val="1C5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114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0B0B"/>
                </a:solidFill>
                <a:latin typeface="Calibri"/>
                <a:ea typeface="Calibri"/>
              </a:rPr>
              <a:t>iStockLink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65215" y="4114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C50DE"/>
                </a:solidFill>
                <a:latin typeface="Calibri"/>
                <a:ea typeface="Calibri"/>
              </a:rPr>
              <a:t>КАНАЛЫ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B0B0B"/>
                </a:solidFill>
                <a:latin typeface="Calibri"/>
                <a:ea typeface="Calibri"/>
              </a:rPr>
              <a:t>Куда класть деньги внутри бюджета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103120"/>
          <a:ext cx="1078992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371600"/>
                <a:gridCol w="1371600"/>
                <a:gridCol w="1371600"/>
                <a:gridCol w="3566160"/>
              </a:tblGrid>
              <a:tr h="56170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Канал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 Тест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B База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 Рост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Зачем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Яндекс Директ — поиск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Заявки на демо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Ретаргет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15%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15%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15%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Догон сайта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Контент / кейсы / PDF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Доверие + sales kit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Вебинары / посевы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5%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10%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12%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Квалифицированный inbound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Партнёры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Агентства, 1С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170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Тесты каналов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5%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5%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6%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Telegram / ABM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Микс каналов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47395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48056"/>
            <a:ext cx="146304" cy="146304"/>
          </a:xfrm>
          <a:prstGeom prst="ellipse">
            <a:avLst/>
          </a:prstGeom>
          <a:solidFill>
            <a:srgbClr val="1C5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114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0B0B"/>
                </a:solidFill>
                <a:latin typeface="Calibri"/>
                <a:ea typeface="Calibri"/>
              </a:rPr>
              <a:t>iStockLink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65215" y="4114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C50DE"/>
                </a:solidFill>
                <a:latin typeface="Calibri"/>
                <a:ea typeface="Calibri"/>
              </a:rPr>
              <a:t>UNIT-ЭКОНОМИКА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B0B0B"/>
                </a:solidFill>
                <a:latin typeface="Calibri"/>
                <a:ea typeface="Calibri"/>
              </a:rPr>
              <a:t>Когда можно масштабировать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94560"/>
            <a:ext cx="539496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50DE"/>
                </a:solidFill>
                <a:latin typeface="Calibri"/>
                <a:ea typeface="Calibri"/>
              </a:rPr>
              <a:t>CAC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0B0B"/>
                </a:solidFill>
                <a:latin typeface="Calibri"/>
                <a:ea typeface="Calibri"/>
              </a:rPr>
              <a:t>≤ 35–45% ACV year-1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7085"/>
                </a:solidFill>
                <a:latin typeface="Calibri"/>
                <a:ea typeface="Calibri"/>
              </a:rPr>
              <a:t>Иначе резать дорогие связки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194560"/>
            <a:ext cx="539496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4231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50DE"/>
                </a:solidFill>
                <a:latin typeface="Calibri"/>
                <a:ea typeface="Calibri"/>
              </a:rPr>
              <a:t>Payback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834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0B0B"/>
                </a:solidFill>
                <a:latin typeface="Calibri"/>
                <a:ea typeface="Calibri"/>
              </a:rPr>
              <a:t>≤ 6–9 месяцев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2918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7085"/>
                </a:solidFill>
                <a:latin typeface="Calibri"/>
                <a:ea typeface="Calibri"/>
              </a:rPr>
              <a:t>Иначе поднимать ACV / сокращать цикл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23360"/>
            <a:ext cx="539496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2519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50DE"/>
                </a:solidFill>
                <a:latin typeface="Calibri"/>
                <a:ea typeface="Calibri"/>
              </a:rPr>
              <a:t>CPL стабильность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634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0B0B"/>
                </a:solidFill>
                <a:latin typeface="Calibri"/>
                <a:ea typeface="Calibri"/>
              </a:rPr>
              <a:t>4–8 недель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1206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7085"/>
                </a:solidFill>
                <a:latin typeface="Calibri"/>
                <a:ea typeface="Calibri"/>
              </a:rPr>
              <a:t>Не лить search без ≥30 конверсий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4023360"/>
            <a:ext cx="539496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42519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50DE"/>
                </a:solidFill>
                <a:latin typeface="Calibri"/>
                <a:ea typeface="Calibri"/>
              </a:rPr>
              <a:t>Win rate демо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6634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0B0B"/>
                </a:solidFill>
                <a:latin typeface="Calibri"/>
                <a:ea typeface="Calibri"/>
              </a:rPr>
              <a:t>≥ 20%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51206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7085"/>
                </a:solidFill>
                <a:latin typeface="Calibri"/>
                <a:ea typeface="Calibri"/>
              </a:rPr>
              <a:t>Сначала чинить sales, не бюджет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Unit-экономика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80015" y="647395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48056"/>
            <a:ext cx="146304" cy="146304"/>
          </a:xfrm>
          <a:prstGeom prst="ellipse">
            <a:avLst/>
          </a:prstGeom>
          <a:solidFill>
            <a:srgbClr val="1C5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114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0B0B"/>
                </a:solidFill>
                <a:latin typeface="Calibri"/>
                <a:ea typeface="Calibri"/>
              </a:rPr>
              <a:t>iStockLink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65215" y="4114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C50DE"/>
                </a:solidFill>
                <a:latin typeface="Calibri"/>
                <a:ea typeface="Calibri"/>
              </a:rPr>
              <a:t>БИТРИКС24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B0B0B"/>
                </a:solidFill>
                <a:latin typeface="Calibri"/>
                <a:ea typeface="Calibri"/>
              </a:rPr>
              <a:t>Сравнение с Битрикс24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01168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114800"/>
                <a:gridCol w="3657600"/>
              </a:tblGrid>
              <a:tr h="5878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Критерий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Битрикс24 + внедрение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iStockLink CRM+SRM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Время до процесса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Недели–месяцы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Около 1 дня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SRM / поставщики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Доработка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В том же окне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КП и сравнение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Почта / кастом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Сводная таблица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Сделка → закупка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Проектируется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Единый маршрут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Агрегаторы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Через интегратора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Контур / Seldon из коробки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Модель затрат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Подписка + 150–600+ тыс.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  <a:ea typeface="Calibri"/>
                        </a:rPr>
                        <a:t>Подписка, без проекта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Сравнение Битрикс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47395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48056"/>
            <a:ext cx="146304" cy="146304"/>
          </a:xfrm>
          <a:prstGeom prst="ellipse">
            <a:avLst/>
          </a:prstGeom>
          <a:solidFill>
            <a:srgbClr val="1C5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114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0B0B"/>
                </a:solidFill>
                <a:latin typeface="Calibri"/>
                <a:ea typeface="Calibri"/>
              </a:rPr>
              <a:t>iStockLink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65215" y="4114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C50DE"/>
                </a:solidFill>
                <a:latin typeface="Calibri"/>
                <a:ea typeface="Calibri"/>
              </a:rPr>
              <a:t>БИТРИКС24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B0B0B"/>
                </a:solidFill>
                <a:latin typeface="Calibri"/>
                <a:ea typeface="Calibri"/>
              </a:rPr>
              <a:t>Когда что выбирать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94560"/>
            <a:ext cx="530352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667085"/>
                </a:solidFill>
                <a:latin typeface="Calibri"/>
                <a:ea typeface="Calibri"/>
              </a:rPr>
              <a:t>Битрикс24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0B0B0B"/>
                </a:solidFill>
                <a:latin typeface="Calibri"/>
                <a:ea typeface="Calibri"/>
              </a:rPr>
              <a:t>• Нужен «комбайн»: CRM + портал + задачи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0B0B0B"/>
                </a:solidFill>
                <a:latin typeface="Calibri"/>
                <a:ea typeface="Calibri"/>
              </a:rPr>
              <a:t>• Есть бюджет и время на интегратора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0B0B0B"/>
                </a:solidFill>
                <a:latin typeface="Calibri"/>
                <a:ea typeface="Calibri"/>
              </a:rPr>
              <a:t>• Закупки — не ключевой процесс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194560"/>
            <a:ext cx="5303520" cy="3657600"/>
          </a:xfrm>
          <a:prstGeom prst="roundRect">
            <a:avLst>
              <a:gd name="adj" fmla="val 8000"/>
            </a:avLst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423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50DE"/>
                </a:solidFill>
                <a:latin typeface="Calibri"/>
                <a:ea typeface="Calibri"/>
              </a:rPr>
              <a:t>iStockLink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01752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0B0B0B"/>
                </a:solidFill>
                <a:latin typeface="Calibri"/>
                <a:ea typeface="Calibri"/>
              </a:rPr>
              <a:t>• Продажи и поставщики в одном цикле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0B0B0B"/>
                </a:solidFill>
                <a:latin typeface="Calibri"/>
                <a:ea typeface="Calibri"/>
              </a:rPr>
              <a:t>• Нужен быстрый старт без проекта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0B0B0B"/>
                </a:solidFill>
                <a:latin typeface="Calibri"/>
                <a:ea typeface="Calibri"/>
              </a:rPr>
              <a:t>• Важны КП, SRM, тендеры в том же окне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Когда выбирать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80015" y="647395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48056"/>
            <a:ext cx="146304" cy="146304"/>
          </a:xfrm>
          <a:prstGeom prst="ellipse">
            <a:avLst/>
          </a:prstGeom>
          <a:solidFill>
            <a:srgbClr val="1C5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114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  <a:ea typeface="Calibri"/>
              </a:rPr>
              <a:t>iStockLink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65215" y="4114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8EAFFF"/>
                </a:solidFill>
                <a:latin typeface="Calibri"/>
                <a:ea typeface="Calibri"/>
              </a:rPr>
              <a:t>ДАННЫЕ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  <a:ea typeface="Calibri"/>
              </a:rPr>
              <a:t>Директ учтён. Не хватает закрытий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50DE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743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  <a:ea typeface="Calibri"/>
              </a:rPr>
              <a:t>CRM: SQL → оплата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108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B0BD"/>
                </a:solidFill>
                <a:latin typeface="Calibri"/>
                <a:ea typeface="Calibri"/>
              </a:rPr>
              <a:t>По 5 SQL сентября — статус, тариф, won/lost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94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50DE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794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  <a:ea typeface="Calibri"/>
              </a:rPr>
              <a:t>Касания 3–6 мес.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160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B0BD"/>
                </a:solidFill>
                <a:latin typeface="Calibri"/>
                <a:ea typeface="Calibri"/>
              </a:rPr>
              <a:t>Источник / UTM, этап, сумма — для win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463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50DE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  <a:ea typeface="Calibri"/>
              </a:rPr>
              <a:t>Средний чек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212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B0BD"/>
                </a:solidFill>
                <a:latin typeface="Calibri"/>
                <a:ea typeface="Calibri"/>
              </a:rPr>
              <a:t>Факт ACV по оплаченным аккаунтам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Calibri"/>
                <a:ea typeface="Calibri"/>
              </a:rPr>
              <a:t>Нужные данные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80015" y="647395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99999"/>
                </a:solidFill>
                <a:latin typeface="Calibri"/>
                <a:ea typeface="Calibri"/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48056"/>
            <a:ext cx="146304" cy="146304"/>
          </a:xfrm>
          <a:prstGeom prst="ellipse">
            <a:avLst/>
          </a:prstGeom>
          <a:solidFill>
            <a:srgbClr val="1C5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114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  <a:ea typeface="Calibri"/>
              </a:rPr>
              <a:t>iStockLink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65215" y="4114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8EAFFF"/>
                </a:solidFill>
                <a:latin typeface="Calibri"/>
                <a:ea typeface="Calibri"/>
              </a:rPr>
              <a:t>ДАЛЬШЕ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  <a:ea typeface="Calibri"/>
              </a:rPr>
              <a:t>Следующий шаг: сценарий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8B0BD"/>
                </a:solidFill>
                <a:latin typeface="Calibri"/>
                <a:ea typeface="Calibri"/>
              </a:rPr>
              <a:t>150 тыс ₽/мес · ~300 SQL/год · ~66 оплат при win 22% · ~7,9 млн ₽ (модель).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89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EAFFF"/>
                </a:solidFill>
                <a:latin typeface="Calibri"/>
                <a:ea typeface="Calibri"/>
              </a:rPr>
              <a:t>Сейчас ~28 тыс ₽/мес. Сначала ×5 и замер win rate, потом B/C.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120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  <a:ea typeface="Calibri"/>
              </a:rPr>
              <a:t>istock.link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Calibri"/>
                <a:ea typeface="Calibri"/>
              </a:rPr>
              <a:t>Рекомендация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47395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99999"/>
                </a:solidFill>
                <a:latin typeface="Calibri"/>
                <a:ea typeface="Calibri"/>
              </a:rPr>
              <a:t>19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