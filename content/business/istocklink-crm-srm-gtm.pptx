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1C50DE"/>
                </a:solidFill>
                <a:latin typeface="Calibri"/>
                <a:ea typeface="Calibri"/>
              </a:rPr>
              <a:t>GO-TO-MARKET ДОКУМЕНТ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105156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F172A"/>
                </a:solidFill>
                <a:latin typeface="Calibri"/>
                <a:ea typeface="Calibri"/>
              </a:rPr>
              <a:t>Анализ рынка и план
продвижения продукта
CRM + SRM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39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475569"/>
                </a:solidFill>
                <a:latin typeface="Calibri"/>
                <a:ea typeface="Calibri"/>
              </a:rPr>
              <a:t>Позиционирование iStockLink как связки продаж и закупок в одном окне.
Отдельный блок — сравнительная матрица с Битрикс24.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572000"/>
            <a:ext cx="7498079" cy="14173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572000"/>
            <a:ext cx="73152" cy="141732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754880"/>
            <a:ext cx="708659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Продукт: iStockLink CRM + SRM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Рынок: Россия, B2B / B2G · горизонт 12 месяцев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Версия 1.2 · калибровка на Директе сентябрь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istock.link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01 / 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Содержание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73736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  <a:ea typeface="Calibri"/>
              </a:rPr>
              <a:t>Резюме для руководства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48840"/>
            <a:ext cx="10820095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3317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  <a:ea typeface="Calibri"/>
              </a:rPr>
              <a:t>Анализ рынка — CRM, SRM, ICP, конкуренты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43200"/>
            <a:ext cx="10820095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2608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260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  <a:ea typeface="Calibri"/>
              </a:rPr>
              <a:t>Факт Директа и деньги → результат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337560"/>
            <a:ext cx="10820095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52044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52044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  <a:ea typeface="Calibri"/>
              </a:rPr>
              <a:t>Сценарии бюджета A / B / 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931920"/>
            <a:ext cx="10820095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148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  <a:ea typeface="Calibri"/>
              </a:rPr>
              <a:t>Таблица сравнения с Битрикс24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10820095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0916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70916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0F172A"/>
                </a:solidFill>
                <a:latin typeface="Calibri"/>
                <a:ea typeface="Calibri"/>
              </a:rPr>
              <a:t>Риски и что нужно для точного win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120640"/>
            <a:ext cx="10820095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" y="5486400"/>
            <a:ext cx="10820095" cy="6400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596128"/>
            <a:ext cx="1045433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Источники рынка: TAdviser, Kept, Data Insight. Реклама: отчёт Яндекс Директ iStockLink, сентябрь 2026.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Содержание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02 / 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1. Резюме для руководства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0F172A"/>
                </a:solidFill>
                <a:latin typeface="Calibri"/>
                <a:ea typeface="Calibri"/>
              </a:rPr>
              <a:t>Ниша между универсальной CRM и тяжёлым SRM. Ценность — один контур «сделка → запрос КП → поставка».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774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606040"/>
            <a:ext cx="3154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1C50DE"/>
                </a:solidFill>
                <a:latin typeface="Calibri"/>
                <a:ea typeface="Calibri"/>
              </a:rPr>
              <a:t>~44 млрд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200400"/>
            <a:ext cx="3154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Рынок CRM РФ, 2025
TAdviser, +25% г/г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39" y="23774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606040"/>
            <a:ext cx="3154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1C50DE"/>
                </a:solidFill>
                <a:latin typeface="Calibri"/>
                <a:ea typeface="Calibri"/>
              </a:rPr>
              <a:t>~3,5 млрд 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3200400"/>
            <a:ext cx="3154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Рынок SRM РФ, 2025
Kept / TAdviser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23774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7" y="2606040"/>
            <a:ext cx="3154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1C50DE"/>
                </a:solidFill>
                <a:latin typeface="Calibri"/>
                <a:ea typeface="Calibri"/>
              </a:rPr>
              <a:t>5 515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7" y="3200400"/>
            <a:ext cx="3154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Cost / SQL факт
Директ, сентябрь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8912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Ключевые выводы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  <a:ea typeface="Calibri"/>
              </a:rPr>
              <a:t>• Директ уже даёт SQL за ~5,5 тыс. ₽ — канал не «холодный тест».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  <a:ea typeface="Calibri"/>
              </a:rPr>
              <a:t>• Средний бизнес платит за Битрикс дважды: лицензия + внедрение 150–600 тыс. ₽.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  <a:ea typeface="Calibri"/>
              </a:rPr>
              <a:t>• Рекомендация: сценарий A (150 тыс ₽/мес), затем B после фиксации win rate.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Резюме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03 / 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2. Анализ рынка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544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Рынок CRM и SRM в России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1965960"/>
          <a:ext cx="1088136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657600"/>
                <a:gridCol w="32004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Показатель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Оценка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Источник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CRM РФ, 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~35,3 млрд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TAdviser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CRM РФ, 2025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~44,1 млрд ₽ (+25%)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TAdviser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Комплексные CRM, 2025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~20,5 млрд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Kept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SRM РФ, 2025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~3,5 млрд ₽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Kept / TAdviser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CAGR SRM 2020–2025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~30,6%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Kept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Автоматизация закупок, 2024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~11,5 млрд ₽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Data Insight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Анализ рынка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04 / 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2.4. Целевой сегмент (ICP)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Primary ICP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6888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B2B / B2G, 15–150 сотрудников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Отдел продаж + регулярные закупки / тендеры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Сейчас: Excel или «сырой» Битрикс24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Боли: потеря сделок, ручной сбор КП,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  нет единой картины для РОП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50DE"/>
                </a:solidFill>
                <a:latin typeface="Calibri"/>
                <a:ea typeface="Calibri"/>
              </a:rPr>
              <a:t>Secondary ICP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6888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Торговля / производство под клиента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Тендерные команды in-house / outsource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Переход с Битрикс без бюджета на интегратора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Calibri"/>
                <a:ea typeface="Calibri"/>
              </a:rPr>
              <a:t>• Нужны Контур / Seldon в том же контуре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ICP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05 / 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2.5. Конкурентная карта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73736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20"/>
                <a:gridCol w="41148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Кластер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Примеры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Слабость vs iStockLink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Универсальные CRM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Битрикс24, amoCRM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SRM/КП — доработка; долгое внедрение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Тяжёлые SRM / S2P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Norbit, ELMA365…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Дорого, слабо связано с продажами SMB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Агрегаторы тендеров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Контур, Seldon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Нет CRM/SRM-операционки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Excel + почта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Статус-кво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Нет контроля и масштаба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85800" y="4846320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6048"/>
            <a:ext cx="1045433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Окно iStockLink: готовая CRM + SRM и оцифровка КП в одном окне, старт за день, без интегратора. Продаём снижение TCO и цикл «клиент → поставка», не «ещё одну CRM».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Конкуренты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06 /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3. Факт Яндекс Директа · сентябрь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Показатель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Комментарий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Расход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27 576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Поиск 93% + ретаргет 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Показы / клики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15 337 / 457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CTR ~3,0%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Конверсии Метрики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56 · CPA 492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Не все = лид в CRM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Реальные лиды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8 · CPL 3 447 ₽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База для планирования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 · 5 515 ₽ / 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Lead→SQL = 62,5%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85800" y="5029200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38928"/>
            <a:ext cx="10454335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CPA 492 ₽ по Метрике завышает картину. Для денег ориентируемся на CPL 3,4 тыс. ₽ и ~5,5 тыс. ₽ за SQL. Win rate (SQL→оплата) в выгрузках пока нет.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Факт Директа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07 / 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3.7. Допущения модели после калибровки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73736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Комментарий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ACV команды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120 000 ₽ / год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Уточнить по факту сделок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Cost / SQL сейчас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~5 500 ₽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Факт сентября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Cost / SQL при масштабе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6–10 тыс. 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Рост аукциона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Lead → SQL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62%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 из 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SQL → оплата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 / 22% / 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Факта закрытий нет — три ветки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Допущения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08 / 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Сценарии: если столько денег — такой результат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74519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C50DE"/>
                </a:solidFill>
                <a:latin typeface="Calibri"/>
                <a:ea typeface="Calibri"/>
              </a:rPr>
              <a:t>0 · Как сейчас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33172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  <a:ea typeface="Calibri"/>
              </a:rPr>
              <a:t>~28 тыс ₽/мес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88036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SQL ~60/год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~13 оплат*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Выручка: ~1,6 млн ₽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Факт run-rate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691640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691640"/>
            <a:ext cx="73152" cy="365760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1874519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C50DE"/>
                </a:solidFill>
                <a:latin typeface="Calibri"/>
                <a:ea typeface="Calibri"/>
              </a:rPr>
              <a:t>A · Разогрев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33172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  <a:ea typeface="Calibri"/>
              </a:rPr>
              <a:t>150 тыс ₽/мес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288036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SQL ~300/год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~66 оплат*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Выручка: ~7,9 млн ₽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Рекомендуемый шаг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1874519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C50DE"/>
                </a:solidFill>
                <a:latin typeface="Calibri"/>
                <a:ea typeface="Calibri"/>
              </a:rPr>
              <a:t>B · База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33172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  <a:ea typeface="Calibri"/>
              </a:rPr>
              <a:t>300 тыс ₽/мес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88036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SQL ~480/год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~106 оплат*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Выручка: ~12,7 млн ₽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После win 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691640"/>
            <a:ext cx="2697480" cy="36576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2" y="1874519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1C50DE"/>
                </a:solidFill>
                <a:latin typeface="Calibri"/>
                <a:ea typeface="Calibri"/>
              </a:rPr>
              <a:t>C · Рост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233172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  <a:ea typeface="Calibri"/>
              </a:rPr>
              <a:t>600 тыс ₽/мес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2" y="2880360"/>
            <a:ext cx="2377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SQL ~720/год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~158 оплат*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Выручка: ~19 млн ₽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Сайт + 2+ продавца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532120"/>
            <a:ext cx="10820095" cy="502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641848"/>
            <a:ext cx="1045433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* Оплаты при win rate 22%. Диапазон 15–28% см. в PDF. Сначала A на 6–8 недель, затем 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Сценарии бюджета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09 / 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Куда класть деньги внутри бюджета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691640"/>
          <a:ext cx="107899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188720"/>
                <a:gridCol w="118872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Канал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Зачем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Яндекс Директ — поиск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45%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Заявки на демо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Ретаргет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Догон сайта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Контент / кейсы / PDF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Доверие + sales kit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Вебинары / посевы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Квалифицированный inbound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Партнёры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15%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Агентства, 1С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Тесты каналов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Telegram / ABM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Микс каналов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10 / 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4. Таблица сравнения с Битрикс24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645920"/>
          <a:ext cx="109728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657600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Критерий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Битрикс24 + внедрение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iStockLink CRM+SRM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Время до процесса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Недели–месяцы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3FB8"/>
                          </a:solidFill>
                          <a:latin typeface="Calibri"/>
                          <a:ea typeface="Calibri"/>
                        </a:rPr>
                        <a:t>Около 1 дня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SRM / поставщики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Доработка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3FB8"/>
                          </a:solidFill>
                          <a:latin typeface="Calibri"/>
                          <a:ea typeface="Calibri"/>
                        </a:rPr>
                        <a:t>В том же окне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КП и сравнение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Почта / кастом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3FB8"/>
                          </a:solidFill>
                          <a:latin typeface="Calibri"/>
                          <a:ea typeface="Calibri"/>
                        </a:rPr>
                        <a:t>Сводная таблица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Сделка → закупка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Проектируется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3FB8"/>
                          </a:solidFill>
                          <a:latin typeface="Calibri"/>
                          <a:ea typeface="Calibri"/>
                        </a:rPr>
                        <a:t>Единый маршрут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Агрегаторы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Через интегратора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3FB8"/>
                          </a:solidFill>
                          <a:latin typeface="Calibri"/>
                          <a:ea typeface="Calibri"/>
                        </a:rPr>
                        <a:t>Контур / Seldon из коробки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Модель затрат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  <a:ea typeface="Calibri"/>
                        </a:rPr>
                        <a:t>Подписка + 150–600+ тыс.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3FB8"/>
                          </a:solidFill>
                          <a:latin typeface="Calibri"/>
                          <a:ea typeface="Calibri"/>
                        </a:rPr>
                        <a:t>Подписка, без проекта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Сравнение с Битрикс24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11 / 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Oval 3"/>
          <p:cNvSpPr/>
          <p:nvPr/>
        </p:nvSpPr>
        <p:spPr>
          <a:xfrm>
            <a:off x="640080" y="429768"/>
            <a:ext cx="256032" cy="256032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75488"/>
            <a:ext cx="164592" cy="164592"/>
          </a:xfrm>
          <a:prstGeom prst="ellipse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438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  <a:ea typeface="Calibri"/>
              </a:rPr>
              <a:t>iStockLink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57055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57055" y="438912"/>
            <a:ext cx="21488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>
                <a:solidFill>
                  <a:srgbClr val="1C50DE"/>
                </a:solidFill>
                <a:latin typeface="Calibri"/>
                <a:ea typeface="Calibri"/>
              </a:rPr>
              <a:t>B2B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960120"/>
            <a:ext cx="109728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50DE"/>
                </a:solidFill>
                <a:latin typeface="Calibri"/>
                <a:ea typeface="Calibri"/>
              </a:rPr>
              <a:t>Рекомендация и следующий шаг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972800" cy="19050"/>
          </a:xfrm>
          <a:prstGeom prst="rect">
            <a:avLst/>
          </a:prstGeom>
          <a:solidFill>
            <a:srgbClr val="1C5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920240"/>
            <a:ext cx="32918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1C50DE"/>
                </a:solidFill>
                <a:latin typeface="Calibri"/>
                <a:ea typeface="Calibri"/>
              </a:rPr>
              <a:t>Сценарий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514600"/>
            <a:ext cx="32918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150 тыс ₽ / мес
~300 SQL / год
~7,9 млн ₽ при win 22%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69164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920240"/>
            <a:ext cx="32918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1C50DE"/>
                </a:solidFill>
                <a:latin typeface="Calibri"/>
                <a:ea typeface="Calibri"/>
              </a:rPr>
              <a:t>×5 к факту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514600"/>
            <a:ext cx="32918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Сейчас ~28 тыс ₽/мес
Канал уже даёт SQL
за 5 515 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691640"/>
            <a:ext cx="3657600" cy="20116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7928" y="1920240"/>
            <a:ext cx="32918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1C50DE"/>
                </a:solidFill>
                <a:latin typeface="Calibri"/>
                <a:ea typeface="Calibri"/>
              </a:rPr>
              <a:t>Потом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7928" y="2514600"/>
            <a:ext cx="329184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После 6–8 недель
и фиксации win rate
по CRM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2336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  <a:ea typeface="Calibri"/>
              </a:rPr>
              <a:t>Чтобы убрать вилку 15–28% по оплатам, пришлите: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348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  <a:ea typeface="Calibri"/>
              </a:rPr>
              <a:t>1. По 5 SQL сентября — статус, тариф, won/lost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  <a:ea typeface="Calibri"/>
              </a:rPr>
              <a:t>2. Касания 3–6 мес. с UTM / источником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Calibri"/>
                <a:ea typeface="Calibri"/>
              </a:rPr>
              <a:t>3. Факт ACV по оплаченным аккаунтам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6355080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istock.link · GTM CRM+SRM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12 / 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97135" y="6419088"/>
            <a:ext cx="150876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2855" y="6446520"/>
            <a:ext cx="14630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