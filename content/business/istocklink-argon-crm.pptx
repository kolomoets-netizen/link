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CRM ISTOCKLINK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CRM для отдела продаж «Аргон»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0BD"/>
                </a:solidFill>
                <a:latin typeface="Calibri"/>
                <a:ea typeface="Calibri"/>
              </a:rPr>
              <a:t>Воронка. Задачи. Поставщики. КП. Одно окно.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EAFFF"/>
                </a:solidFill>
                <a:latin typeface="Calibri"/>
                <a:ea typeface="Calibri"/>
              </a:rPr>
              <a:t>CRM ISTOCKLINK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Сборка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О чём эта встреча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Зачем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Что ломается без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Что умеет iStockLink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Воронка. Клиенты. Задачи.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Главное преимущество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Быстрая гибкая настройка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Поставщики в том же окне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77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Запрос. КП. Поставка.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50DE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Как подключим «Аргон»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Демо на ваших сделках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Ориентир встречи — 25 минут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ЗАЧЕМ МЫ 
ОТДЕЛ НЕ ДОЛЖЕН ЖИТЬ В ЧАТАХ 
СДЕЛКИ УХОДЯТ ИЗ EXCEL. ИЗ ПЕРЕПИСОК. ИЗ ГОЛОВЫ МЕНЕДЖЕРА.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Отдел не должен жить в чатах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0BD"/>
                </a:solidFill>
                <a:latin typeface="Calibri"/>
                <a:ea typeface="Calibri"/>
              </a:rPr>
              <a:t>Сделки уходят из Excel. Из переписок. Из головы менеджера.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228600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Договорённости в мессенджерах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Следующий шаг пропадает.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315468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200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154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Клиент «принадлежит» одному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Отпуск обнуляет контекст.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402336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РОП не видит картину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Нет воронки. Нет просрочек.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89204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937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892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Excel не ведёт сделку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212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Таблица не напоминает.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Отдел продаж «Аргон»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КАК УСТРОЕНА 
СДЕЛКА ЖИВЁТ В ОДНОЙ КАРТОЧКЕ 
КЛИЕНТ. ЭТАП. ЗАДАЧА. 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Сделка живёт в одной карточке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Клиент. Этап. Задача. Результат.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Клиент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Контакты. История. Документы.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Сделка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Этап. Сумма. Ответственный.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Задачи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Звонок. КП. Встреча.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7175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Результат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0055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Договор. Отказ. Пауза.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Без настройки с нуля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ВОЗМОЖНОСТИ 
ЧТО УМЕЕТ НАША CRM 
01 ВОРОНКА ПО ЭТАПАМ ЭТАПЫ. ЗАДАЧИ. ОТВЕТСТВЕННЫЕ. С ПЕРВОГО ДНЯ.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Что умеет наша 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545738" cy="2377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090672"/>
            <a:ext cx="3271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32714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  <a:ea typeface="Calibri"/>
              </a:rPr>
              <a:t>Воронка по этапам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114800"/>
            <a:ext cx="32714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Этапы. Задачи. Ответственные. С первого дня.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2926080"/>
            <a:ext cx="3545738" cy="2377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7570" y="3090672"/>
            <a:ext cx="3271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7570" y="3429000"/>
            <a:ext cx="32714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  <a:ea typeface="Calibri"/>
              </a:rPr>
              <a:t>База клиентов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7570" y="4114800"/>
            <a:ext cx="32714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Компания. Лица. История. Сделки.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5876" y="2926080"/>
            <a:ext cx="3545738" cy="2377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0468" y="3090672"/>
            <a:ext cx="3271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0468" y="3429000"/>
            <a:ext cx="32714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  <a:ea typeface="Calibri"/>
              </a:rPr>
              <a:t>Задачи и контроль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0468" y="4114800"/>
            <a:ext cx="32714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Дедлайны. Просрочки. Нагрузка.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40680"/>
            <a:ext cx="3545738" cy="2377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05272"/>
            <a:ext cx="3271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943600"/>
            <a:ext cx="32714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  <a:ea typeface="Calibri"/>
              </a:rPr>
              <a:t>Документы и КП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6629400"/>
            <a:ext cx="32714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Файлы по сделке. Оцифровка предложений.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2978" y="5440680"/>
            <a:ext cx="3545738" cy="2377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7570" y="5605272"/>
            <a:ext cx="3271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7570" y="5943600"/>
            <a:ext cx="32714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  <a:ea typeface="Calibri"/>
              </a:rPr>
              <a:t>Поставщики в том же окне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7570" y="6629400"/>
            <a:ext cx="32714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Не вторая система.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5876" y="5440680"/>
            <a:ext cx="3545738" cy="23774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0468" y="5605272"/>
            <a:ext cx="32714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0468" y="5943600"/>
            <a:ext cx="32714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Calibri"/>
                <a:ea typeface="Calibri"/>
              </a:rPr>
              <a:t>Лента агрегаторов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0468" y="6629400"/>
            <a:ext cx="327141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Контур. Seldon. По необходимости.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CRM iStockLink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ВОРОНКА 
ВОРОНКА ИЗ КОРОБКИ 
ЭТАПЫ УЖЕ ЕСТЬ. ОТВЕТСТВЕННЫЕ УЖЕ ЕСТЬ. В ПЕРВЫЙ ДЕНЬ.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Воронка из коробки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Этапы уже есть. Ответственные уже есть. В первый день.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Воронка CRM iStockLink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КЛИЕНТЫ 
КЛИЕНТ ХРАНИТСЯ В CRM 
НЕ В ТЕЛЕФОНЕ. НЕ В ЧАТЕ. НОВЫЙ СОТРУДНИК ВХОДИТ СРАЗУ.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Клиент хранится в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Не в телефоне. Не в чате. Новый сотрудник входит сразу.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Контекст остаётся в компании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Следующий шаг всегда назначен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Позвонить по КП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Сделка 0021 · сегодня 16:00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9111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1991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1991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Отправить спецификацию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Сделка 0018 · Игорь Громов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Согласовать договор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Сделка 0014 · завтра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7175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Проверить поставку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055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После выбора подрядчика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Просрочки видны руководителю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ГЛАВНОЕ ПРЕИМУЩЕСТВО 
ОДНО ИЗ ГЛАВНЫХ ПРЕИМУЩЕСТВ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Быстрая и гибкая настройка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0BD"/>
                </a:solidFill>
                <a:latin typeface="Calibri"/>
                <a:ea typeface="Calibri"/>
              </a:rPr>
              <a:t>Этапы. Поля. Маршруты. Под ваш процесс. Без проекта на месяцы.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Настройка. Не внедрение.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НАСТРОЙКА 
МЕНЯЕТЕ САМИ. В ТОТ ЖЕ ДЕНЬ. 
01 ВОРОНКА ЭТАПЫ ДОБАВЛЯЕТЕ И УБИРАЕТЕ САМИ.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Меняете сами. В тот же день.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Воронка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Этапы добавляете и убираете сами.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46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Поля карточки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Только то, чем отдел реально пользуется.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Маршруты заявок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Согласование как у вас. Не «как в коробке».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83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Роли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303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Менеджер. РОП. Закупщик. Свои права.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Гибкость без интегратора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ПОЧЕМУ МЫ 
ПОЧЕМУ ВЫБИРАЮТ НАШУ CRM 
01 1 ДЕНЬ ЗАПУСК. НЕ ВНЕДРЕНИЕ. ПОДКЛЮЧИЛИ. ОТДЕЛ РАБОТАЕТ.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Почему выбирают нашу 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1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Запуск. Не внедрение.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Подключили. Отдел работает.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Часы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Гибкая настройка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1991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Этапы и маршруты под вас.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023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Без доработки с нуля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Воронка. Поставщики. КП. Уже внутри.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7175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0055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0055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14 дней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0055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Полный доступ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0055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На ваших сделках. Потом решаете.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Преимущества CRM iStockLink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Рядом с привычными инструментами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Без цифр тарифа. Про процесс.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ПОСТАВЩИКИ 
ЭТО ТОЖЕ НАША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Закупка у поставщиков. В том же окне.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0BD"/>
                </a:solidFill>
                <a:latin typeface="Calibri"/>
                <a:ea typeface="Calibri"/>
              </a:rPr>
              <a:t>Выигранная сделка становится запросом КП. Затем поставкой.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Не вторая 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ЗАКУПКИ 
ПОЛНЫЙ ЦИКЛ С ПОСТАВЩИКАМИ 
СБОР ПОТРЕБНОСТИ И ЗАЯВКИ ИЗ EXCEL. ИЗ ПОЧТЫ. ИЗ TELEGRAM. СОГЛАСОВАНИЕ ПО РОЛЯМ.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Полный цикл с поставщиками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Потребности и заявки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Из Excel. Из почты. Из Telegram. Согласование по ролям.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5002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Запросы и КП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5002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Рассылка. Сводная таблица. Рейтинг. Чат по заявке.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7044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База и аналитика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7044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Квалификация. Скоринг. Сроки. Экономия.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Возможности CRM. Не отдельный сервис.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МАРШРУТ 
ОТ СДЕЛКИ ДО ПОСТАВКИ 
01 СДЕЛКА ДОГОВОР ЗАКРЫТ. НУЖНА ПОСТАВКА.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От сделки до поставки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170428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090672"/>
            <a:ext cx="14299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142996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Сделка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114800"/>
            <a:ext cx="142996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Договор закрыт. Нужна поставка.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1529" y="2926080"/>
            <a:ext cx="170428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6121" y="3090672"/>
            <a:ext cx="14299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6121" y="3429000"/>
            <a:ext cx="142996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Заявка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6121" y="4114800"/>
            <a:ext cx="142996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Кто запросил. Кто утвердил.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978" y="2926080"/>
            <a:ext cx="170428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7570" y="3090672"/>
            <a:ext cx="14299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7570" y="3429000"/>
            <a:ext cx="142996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Запрос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7570" y="4114800"/>
            <a:ext cx="142996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Рассылка поставщикам.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2926080"/>
            <a:ext cx="170428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9019" y="3090672"/>
            <a:ext cx="14299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9019" y="3429000"/>
            <a:ext cx="142996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КП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9019" y="4114800"/>
            <a:ext cx="142996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Цена. Срок. Условия.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5876" y="2926080"/>
            <a:ext cx="170428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0468" y="3090672"/>
            <a:ext cx="14299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0468" y="3429000"/>
            <a:ext cx="142996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Выбор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0468" y="4114800"/>
            <a:ext cx="142996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Рейтинг. Согласование.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7325" y="2926080"/>
            <a:ext cx="170428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1917" y="3090672"/>
            <a:ext cx="14299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1917" y="3429000"/>
            <a:ext cx="142996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Поставка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1917" y="4114800"/>
            <a:ext cx="142996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Срок. Качество. История.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Один контур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ЗАЯВКИ 
ПОТРЕБНОСТЬ НЕ ТЕРЯЕТСЯ 
КТО ЗАПРОСИЛ. ЧТО НУЖНО. ГДЕ СОГЛАСОВАНИЕ.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Потребность не теряется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Кто запросил. Что нужно. Где согласование.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Импорт из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Потребности за пару кликов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Почта и Telegram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Автосбор из рабочих каналов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Маршрут согласования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Роли. Этапы. Правила.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7175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Автозаказ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0055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По правилам непрерывности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Заявки в CRM iStockLink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ЗАПРОСЫ 
ЗАПРОС СОБИРАЕТСЯ ЗА МИНУТЫ 
01 ПУБЛИЧНЫЙ ИЛИ ЗАКРЫТЫЙ ОТКРЫТАЯ ЗАКУПКА. ИЛИ ТОЛЬКО СВОИ ПОДРЯДЧИКИ.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Запрос собирается за минуты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Публичный или закрытый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Открытая закупка. Или только свои подрядчики.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5002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Рассылка из 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5002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На почту. В ЭТП.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7044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Не только цена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7044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Срок. Гео. Доставка. Гарантия.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Запросы поставщикам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БАЗА 
ПОДРЯДЧИКИ В НАШЕЙ CRM 
СВОИХ ПЕРЕНОСИТЕ СРАЗУ. НОВЫХ ИЩЕТЕ ПО КАТЕГОРИИ И РЕГИОНУ.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Подрядчики в нашей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Своих переносите сразу. Новых ищете по категории и региону.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База поставщиков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КП 
КП САМИ СОБИРАЮТСЯ В ТАБЛИЦУ 
РАССЫЛКА. ОЦИФРОВКА. ПЕРЕГОВОРЫ. ИСТОРИЯ В ЗАЯВКЕ.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КП сами собираются в таблицу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Рассылка. Оцифровка. Переговоры. История в заявке.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Оцифровка КП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ПРОВЕРКА 
ПОСТАВЩИК ПРОВЕРЯЕТСЯ ДО ОПЛАТЫ 
01 ПРОВЕРКА В СБИС ЮРИДИЧЕСКАЯ ЧИСТОТА В КАРТОЧКЕ.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Поставщик проверяется до оплаты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Проверка в СБИС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Юридическая чистота в карточке.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46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Аккредитация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Анкета по вашим правилам.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Скоринг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История. Сроки. Срывы.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83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Категории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303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Calibri"/>
                <a:ea typeface="Calibri"/>
              </a:rPr>
              <a:t>Товар. Регион. Надёжность.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Квалификация поставщиков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ПОСТАВКА 
ПОСЛЕ ВЫБОРА — КОНТРОЛЬ ПОСТАВКИ 
СРОК. КАЧЕСТВО. ОТКЛОНЕНИЯ. ФАКТЫ. НЕ ПАМЯТЬ.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После выбора — контроль поставки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085"/>
                </a:solidFill>
                <a:latin typeface="Calibri"/>
                <a:ea typeface="Calibri"/>
              </a:rPr>
              <a:t>Срок. Качество. Отклонения. Факты. Не память.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Срок поставки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32 дня · в графике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Спецификация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47 из 47 позиций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Отклонение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Упаковка на приёмке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7175" y="3108960"/>
            <a:ext cx="2604439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3291840"/>
            <a:ext cx="2330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384048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Отзыв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0055" y="4480560"/>
            <a:ext cx="23301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Попадёт в рейтинг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Контроль поставок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ЦИФРЫ 
ЧТО ДАЁТ CRM НА ЦИФРАХ 
01 100% ТОЧНОСТЬ КОНТУРА ЗАЯВКИ И КП НЕ ТЕРЯЮТСЯ.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Что даёт CRM на цифрах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Точность контура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Заявки и КП не теряются.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−30%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Расходы на закупки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1991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Открытое сравнение КП.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023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+50%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Ресурс отдела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Меньше ручной рутины.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7175" y="3017520"/>
            <a:ext cx="2604439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0055" y="3200400"/>
            <a:ext cx="2330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50DE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0055" y="3520440"/>
            <a:ext cx="23301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Calibri"/>
                <a:ea typeface="Calibri"/>
              </a:rPr>
              <a:t>−40%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0055" y="4206240"/>
            <a:ext cx="23301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Calibri"/>
                <a:ea typeface="Calibri"/>
              </a:rPr>
              <a:t>Цикл закупки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0055" y="4937760"/>
            <a:ext cx="23301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Calibri"/>
                <a:ea typeface="Calibri"/>
              </a:rPr>
              <a:t>Короче путь до выбора.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Через 6 месяцев у заказчиков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ДЛЯ «АРГОН» 
ЗАЧЕМ ЭТО ПРОДАЖАМ «АРГОН» 
СДЕЛКА В ОДНОЙ СИСТЕМЕ. ЗАКУПКА НЕ В ПОЧТЕ.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Зачем это продажам «Аргон»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0BD"/>
                </a:solidFill>
                <a:latin typeface="Calibri"/>
                <a:ea typeface="Calibri"/>
              </a:rPr>
              <a:t>Сделка в одной системе. Закупка не в почте.</a:t>
            </a:r>
          </a:p>
        </p:txBody>
      </p:sp>
      <p:sp>
        <p:nvSpPr>
          <p:cNvPr id="8" name="Oval 7"/>
          <p:cNvSpPr/>
          <p:nvPr/>
        </p:nvSpPr>
        <p:spPr>
          <a:xfrm>
            <a:off x="6492240" y="228600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Сделка и закупка вместе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Чем закрывают поставку клиенту.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315468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200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154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КП рядом со сделкой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Не собирать цены по чатам.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402336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4069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Тендеры по необходимости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Лента в том же контуре.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892040"/>
            <a:ext cx="384048" cy="384048"/>
          </a:xfrm>
          <a:prstGeom prst="ellipse">
            <a:avLst/>
          </a:prstGeom>
          <a:solidFill>
            <a:srgbClr val="1A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937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CB6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892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РОП и снабжение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212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0BD"/>
                </a:solidFill>
                <a:latin typeface="Calibri"/>
                <a:ea typeface="Calibri"/>
              </a:rPr>
              <a:t>Один язык. Одни статусы.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Связанный процесс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50DE"/>
                </a:solidFill>
                <a:latin typeface="Calibri"/>
                <a:ea typeface="Calibri"/>
              </a:rPr>
              <a:t>ЗАПУСК 
КАК ПОДКЛЮЧИМ CRM В «АРГОН» 
01 
ДЕМО НА ВАШИХ СДЕЛКАХ 
3–5 ЖИВЫХ КЛИЕНТОВ. ОДНА ЗАКУПКА.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0B0B"/>
                </a:solidFill>
                <a:latin typeface="Calibri"/>
                <a:ea typeface="Calibri"/>
              </a:rPr>
              <a:t>Как подключим CRM в «Аргон»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Демо на ваших сделках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3–5 живых клиентов. Одна закупка.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5002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Этапы под ваш цикл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5002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Воронка и маршрут заявки. Как вы уже работаете.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3108960"/>
            <a:ext cx="3527450" cy="25603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7044" y="3291840"/>
            <a:ext cx="32531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50DE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3840480"/>
            <a:ext cx="325313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Calibri"/>
                <a:ea typeface="Calibri"/>
              </a:rPr>
              <a:t>Неделя в бою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7044" y="4480560"/>
            <a:ext cx="32531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Calibri"/>
                <a:ea typeface="Calibri"/>
              </a:rPr>
              <a:t>Команда ведёт сделки. РОП смотрит ту же доску.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Без отдельного проекта внедрения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Calibri"/>
                <a:ea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411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EAFFF"/>
                </a:solidFill>
                <a:latin typeface="Calibri"/>
                <a:ea typeface="Calibri"/>
              </a:rPr>
              <a:t>ДАЛЬШЕ 
ПОКАЖЕМ CRM НА ПРОЦЕССЕ «АРГОН» 
НА ВАШИХ СДЕЛКАХ. НА ВАШЕЙ ЗАКУПКЕ.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Покажем CRM на процессе «Аргон»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0BD"/>
                </a:solidFill>
                <a:latin typeface="Calibri"/>
                <a:ea typeface="Calibri"/>
              </a:rPr>
              <a:t>На ваших сделках. На вашей закупке.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Следующий шаг — 30 минут на воронку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  <a:ea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