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466344" y="274320"/>
            <a:ext cx="237744" cy="237744"/>
          </a:xfrm>
          <a:prstGeom prst="ellipse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2064" y="320040"/>
            <a:ext cx="146304" cy="146304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92608"/>
            <a:ext cx="27432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94215" y="27432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94215" y="292608"/>
            <a:ext cx="21945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C50DE"/>
                </a:solidFill>
                <a:latin typeface="Calibri"/>
                <a:ea typeface="Calibri"/>
              </a:rPr>
              <a:t>ОДИН СЛАЙД · V3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50DE"/>
                </a:solidFill>
                <a:latin typeface="Calibri"/>
                <a:ea typeface="Calibri"/>
              </a:rPr>
              <a:t>Процесс торговой компании: кто что закрывает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42416"/>
            <a:ext cx="11155680" cy="19050"/>
          </a:xfrm>
          <a:prstGeom prst="rect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115568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ea typeface="Calibri"/>
              </a:rPr>
              <a:t>Восемь этапов от лида до отгрузки. Покрытие: iStockLink, Битрикс24 и amoCRM. Процесс один; различаются вход (источник лида) и глубина контура.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1572768"/>
            <a:ext cx="3390023" cy="256032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591056"/>
            <a:ext cx="3390023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</a:rPr>
              <a:t>ПРОДАЖИ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50343" y="1572768"/>
            <a:ext cx="5692711" cy="256032"/>
          </a:xfrm>
          <a:prstGeom prst="roundRect">
            <a:avLst>
              <a:gd name="adj" fmla="val 15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50343" y="1591056"/>
            <a:ext cx="5692711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1C50DE"/>
                </a:solidFill>
                <a:latin typeface="Calibri"/>
                <a:ea typeface="Calibri"/>
              </a:rPr>
              <a:t>ЗАКУПКА И ИСПОЛНЕНИЕ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075688"/>
            <a:ext cx="18745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75569"/>
                </a:solidFill>
                <a:latin typeface="Calibri"/>
                <a:ea typeface="Calibri"/>
              </a:rPr>
              <a:t>Этапы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26263" y="2093976"/>
            <a:ext cx="8059407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5679" y="20482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43967" y="2066544"/>
            <a:ext cx="164592" cy="16459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5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994259" y="2098548"/>
            <a:ext cx="64008" cy="64008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2304288"/>
            <a:ext cx="1114767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Лид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2706624"/>
            <a:ext cx="1114767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  <a:ea typeface="Calibri"/>
              </a:rPr>
              <a:t>Клиент или тендер</a:t>
            </a:r>
          </a:p>
        </p:txBody>
      </p:sp>
      <p:sp>
        <p:nvSpPr>
          <p:cNvPr id="22" name="Oval 21"/>
          <p:cNvSpPr/>
          <p:nvPr/>
        </p:nvSpPr>
        <p:spPr>
          <a:xfrm>
            <a:off x="4077023" y="20482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095311" y="2066544"/>
            <a:ext cx="164592" cy="16459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5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145603" y="2098548"/>
            <a:ext cx="64008" cy="64008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20223" y="2304288"/>
            <a:ext cx="1114767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КП клиенту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20223" y="2706624"/>
            <a:ext cx="1114767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  <a:ea typeface="Calibri"/>
              </a:rPr>
              <a:t>Коммерция</a:t>
            </a:r>
          </a:p>
        </p:txBody>
      </p:sp>
      <p:sp>
        <p:nvSpPr>
          <p:cNvPr id="27" name="Oval 26"/>
          <p:cNvSpPr/>
          <p:nvPr/>
        </p:nvSpPr>
        <p:spPr>
          <a:xfrm>
            <a:off x="5228367" y="20482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246655" y="2066544"/>
            <a:ext cx="164592" cy="16459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5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96947" y="2098548"/>
            <a:ext cx="64008" cy="64008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1567" y="2304288"/>
            <a:ext cx="1114767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Сделка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1567" y="2706624"/>
            <a:ext cx="1114767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  <a:ea typeface="Calibri"/>
              </a:rPr>
              <a:t>Договор</a:t>
            </a:r>
          </a:p>
        </p:txBody>
      </p:sp>
      <p:sp>
        <p:nvSpPr>
          <p:cNvPr id="32" name="Oval 31"/>
          <p:cNvSpPr/>
          <p:nvPr/>
        </p:nvSpPr>
        <p:spPr>
          <a:xfrm>
            <a:off x="6379711" y="20482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7999" y="2066544"/>
            <a:ext cx="164592" cy="16459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5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48291" y="2098548"/>
            <a:ext cx="64008" cy="64008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22911" y="2304288"/>
            <a:ext cx="1114767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Заявка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на закупку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22911" y="2706624"/>
            <a:ext cx="1114767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  <a:ea typeface="Calibri"/>
              </a:rPr>
              <a:t>Потребность</a:t>
            </a:r>
          </a:p>
        </p:txBody>
      </p:sp>
      <p:sp>
        <p:nvSpPr>
          <p:cNvPr id="37" name="Oval 36"/>
          <p:cNvSpPr/>
          <p:nvPr/>
        </p:nvSpPr>
        <p:spPr>
          <a:xfrm>
            <a:off x="7531055" y="20482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549343" y="2066544"/>
            <a:ext cx="164592" cy="16459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5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599635" y="2098548"/>
            <a:ext cx="64008" cy="64008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74255" y="2304288"/>
            <a:ext cx="1114767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Запрос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поставщикам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74255" y="2706624"/>
            <a:ext cx="1114767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  <a:ea typeface="Calibri"/>
              </a:rPr>
              <a:t>RFQ</a:t>
            </a:r>
          </a:p>
        </p:txBody>
      </p:sp>
      <p:sp>
        <p:nvSpPr>
          <p:cNvPr id="42" name="Oval 41"/>
          <p:cNvSpPr/>
          <p:nvPr/>
        </p:nvSpPr>
        <p:spPr>
          <a:xfrm>
            <a:off x="8682399" y="20482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700687" y="2066544"/>
            <a:ext cx="164592" cy="16459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5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750979" y="2098548"/>
            <a:ext cx="64008" cy="64008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5599" y="2304288"/>
            <a:ext cx="1114767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Сравнение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КП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5599" y="2706624"/>
            <a:ext cx="1114767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  <a:ea typeface="Calibri"/>
              </a:rPr>
              <a:t>Выбор</a:t>
            </a:r>
          </a:p>
        </p:txBody>
      </p:sp>
      <p:sp>
        <p:nvSpPr>
          <p:cNvPr id="47" name="Oval 46"/>
          <p:cNvSpPr/>
          <p:nvPr/>
        </p:nvSpPr>
        <p:spPr>
          <a:xfrm>
            <a:off x="9833743" y="20482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52031" y="2066544"/>
            <a:ext cx="164592" cy="16459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5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02323" y="2098548"/>
            <a:ext cx="64008" cy="64008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76943" y="2304288"/>
            <a:ext cx="1114767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Поставка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76943" y="2706624"/>
            <a:ext cx="1114767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  <a:ea typeface="Calibri"/>
              </a:rPr>
              <a:t>От поставщика</a:t>
            </a:r>
          </a:p>
        </p:txBody>
      </p:sp>
      <p:sp>
        <p:nvSpPr>
          <p:cNvPr id="52" name="Oval 51"/>
          <p:cNvSpPr/>
          <p:nvPr/>
        </p:nvSpPr>
        <p:spPr>
          <a:xfrm>
            <a:off x="10985087" y="20482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003375" y="2066544"/>
            <a:ext cx="164592" cy="164592"/>
          </a:xfrm>
          <a:prstGeom prst="ellipse">
            <a:avLst/>
          </a:prstGeom>
          <a:solidFill>
            <a:srgbClr val="FFFFFF"/>
          </a:solidFill>
          <a:ln w="28575">
            <a:solidFill>
              <a:srgbClr val="1C50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053667" y="2098548"/>
            <a:ext cx="64008" cy="64008"/>
          </a:xfrm>
          <a:prstGeom prst="ellipse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28287" y="2304288"/>
            <a:ext cx="1114767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Отгрузка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172A"/>
                </a:solidFill>
                <a:latin typeface="Calibri"/>
                <a:ea typeface="Calibri"/>
              </a:rPr>
              <a:t>клиенту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28287" y="2706624"/>
            <a:ext cx="1114767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75569"/>
                </a:solidFill>
                <a:latin typeface="Calibri"/>
                <a:ea typeface="Calibri"/>
              </a:rPr>
              <a:t>Закрытие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468880" y="2907792"/>
            <a:ext cx="3417455" cy="530352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468880" y="2907792"/>
            <a:ext cx="54864" cy="530352"/>
          </a:xfrm>
          <a:prstGeom prst="rect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596896" y="2944368"/>
            <a:ext cx="155448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C50DE"/>
                </a:solidFill>
                <a:latin typeface="Calibri"/>
                <a:ea typeface="Calibri"/>
              </a:rPr>
              <a:t>ВОЗМОЖНОСТЬ ISTOCKLINK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96896" y="3108960"/>
            <a:ext cx="3197999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F172A"/>
                </a:solidFill>
                <a:latin typeface="Calibri"/>
                <a:ea typeface="Calibri"/>
              </a:rPr>
              <a:t>Источник лида — компания-заказчик или тендер. Интеграции с агрегаторами и ЭТП; тендер входит в тот же этап «Лид», процесс дальше не меняется.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" y="3547872"/>
            <a:ext cx="1892808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3712464"/>
            <a:ext cx="1892808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  <a:ea typeface="Calibri"/>
              </a:rPr>
              <a:t>CRM + SRM + тендеры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468880" y="3575304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3620223" y="3575304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771567" y="3575304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922911" y="3575304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074255" y="3575304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225599" y="3575304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376943" y="3575304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10528287" y="3575304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2468880" y="3575304"/>
            <a:ext cx="9174175" cy="292608"/>
          </a:xfrm>
          <a:prstGeom prst="roundRect">
            <a:avLst>
              <a:gd name="adj" fmla="val 12000"/>
            </a:avLst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60320" y="3602736"/>
            <a:ext cx="530352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</a:rPr>
              <a:t>Весь контур: лид (клиент / тендер) → закупка → отгрузка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3986784"/>
            <a:ext cx="1892808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</a:rPr>
              <a:t>Битрикс24 из коробки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02920" y="4151376"/>
            <a:ext cx="1892808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  <a:ea typeface="Calibri"/>
              </a:rPr>
              <a:t>Без проекта внедрения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468880" y="4014216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3620223" y="4014216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771567" y="4014216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922911" y="4014216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074255" y="4014216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5599" y="4014216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376943" y="4014216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10528287" y="4014216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2468880" y="4014216"/>
            <a:ext cx="3417455" cy="292608"/>
          </a:xfrm>
          <a:prstGeom prst="roundRect">
            <a:avLst>
              <a:gd name="adj" fmla="val 12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560320" y="4041648"/>
            <a:ext cx="32802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Calibri"/>
                <a:ea typeface="Calibri"/>
              </a:rPr>
              <a:t>CRM продаж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77775" y="4059936"/>
            <a:ext cx="5619559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75569"/>
                </a:solidFill>
                <a:latin typeface="Calibri"/>
                <a:ea typeface="Calibri"/>
              </a:rPr>
              <a:t>закупка и тендеры — вне контура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2920" y="4425696"/>
            <a:ext cx="1892808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</a:rPr>
              <a:t>Битрикс24 + доработки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02920" y="4590288"/>
            <a:ext cx="1892808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  <a:ea typeface="Calibri"/>
              </a:rPr>
              <a:t>Проект интегратора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2468880" y="4453128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3620223" y="4453128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4771567" y="4453128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922911" y="4453128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074255" y="4453128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225599" y="4453128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376943" y="4453128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0528287" y="4453128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2468880" y="4453128"/>
            <a:ext cx="5720143" cy="292608"/>
          </a:xfrm>
          <a:prstGeom prst="roundRect">
            <a:avLst>
              <a:gd name="adj" fmla="val 12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560320" y="4480560"/>
            <a:ext cx="5303520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  <a:ea typeface="Calibri"/>
              </a:rPr>
              <a:t>Продажи + часть закупок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80463" y="4498848"/>
            <a:ext cx="3316871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75569"/>
                </a:solidFill>
                <a:latin typeface="Calibri"/>
                <a:ea typeface="Calibri"/>
              </a:rPr>
              <a:t>сравнение / поставка — ещё кастом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02920" y="4864608"/>
            <a:ext cx="1892808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</a:rPr>
              <a:t>amoCRM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02920" y="5029200"/>
            <a:ext cx="1892808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Calibri"/>
                <a:ea typeface="Calibri"/>
              </a:rPr>
              <a:t>CRM продаж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2468880" y="4892040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3620223" y="4892040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4771567" y="4892040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5922911" y="4892040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7074255" y="4892040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8225599" y="4892040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9376943" y="4892040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0528287" y="4892040"/>
            <a:ext cx="1114767" cy="292608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2468880" y="4892040"/>
            <a:ext cx="3417455" cy="29260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560320" y="4919472"/>
            <a:ext cx="3280295" cy="23774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172A"/>
                </a:solidFill>
                <a:latin typeface="Calibri"/>
                <a:ea typeface="Calibri"/>
              </a:rPr>
              <a:t>Воронка продаж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977775" y="4937760"/>
            <a:ext cx="5619559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475569"/>
                </a:solidFill>
                <a:latin typeface="Calibri"/>
                <a:ea typeface="Calibri"/>
              </a:rPr>
              <a:t>SRM / тендеры / ЭТП — нет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02920" y="5349240"/>
            <a:ext cx="11185855" cy="50292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02920" y="5349240"/>
            <a:ext cx="64008" cy="502920"/>
          </a:xfrm>
          <a:prstGeom prst="rect">
            <a:avLst/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85800" y="5422392"/>
            <a:ext cx="10865815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172A"/>
                </a:solidFill>
                <a:latin typeface="Calibri"/>
                <a:ea typeface="Calibri"/>
              </a:rPr>
              <a:t>Вывод: iStockLink закрывает линию целиком и принимает лид как компанию или тендер (агрегаторы, ЭТП). Битрикс и amoCRM сильны в продажах; закупка и тендерный вход — зона пробелов или кастома.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502920" y="5998464"/>
            <a:ext cx="201168" cy="109728"/>
          </a:xfrm>
          <a:prstGeom prst="roundRect">
            <a:avLst>
              <a:gd name="adj" fmla="val 20000"/>
            </a:avLst>
          </a:prstGeom>
          <a:solidFill>
            <a:srgbClr val="1C50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58952" y="5961888"/>
            <a:ext cx="17373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75569"/>
                </a:solidFill>
                <a:latin typeface="Calibri"/>
                <a:ea typeface="Calibri"/>
              </a:rPr>
              <a:t>iStockLink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468880" y="5998464"/>
            <a:ext cx="201168" cy="109728"/>
          </a:xfrm>
          <a:prstGeom prst="roundRect">
            <a:avLst>
              <a:gd name="adj" fmla="val 20000"/>
            </a:avLst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24912" y="5961888"/>
            <a:ext cx="17373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75569"/>
                </a:solidFill>
                <a:latin typeface="Calibri"/>
                <a:ea typeface="Calibri"/>
              </a:rPr>
              <a:t>Битрикс из коробки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4434840" y="5998464"/>
            <a:ext cx="201168" cy="109728"/>
          </a:xfrm>
          <a:prstGeom prst="roundRect">
            <a:avLst>
              <a:gd name="adj" fmla="val 2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4690872" y="5961888"/>
            <a:ext cx="17373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75569"/>
                </a:solidFill>
                <a:latin typeface="Calibri"/>
                <a:ea typeface="Calibri"/>
              </a:rPr>
              <a:t>Битрикс + доработки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6400800" y="5998464"/>
            <a:ext cx="201168" cy="109728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656832" y="5961888"/>
            <a:ext cx="173736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75569"/>
                </a:solidFill>
                <a:latin typeface="Calibri"/>
                <a:ea typeface="Calibri"/>
              </a:rPr>
              <a:t>amoCRM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8366760" y="5998464"/>
            <a:ext cx="201168" cy="109728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622792" y="5961888"/>
            <a:ext cx="18288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75569"/>
                </a:solidFill>
                <a:latin typeface="Calibri"/>
                <a:ea typeface="Calibri"/>
              </a:rPr>
              <a:t>Не закрыто / вручную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2920" y="6473952"/>
            <a:ext cx="11185855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02920" y="6547104"/>
            <a:ext cx="8229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  <a:ea typeface="Calibri"/>
              </a:rPr>
              <a:t>Процесс торговой компании · покрытие · v3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408615" y="6547104"/>
            <a:ext cx="1280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75569"/>
                </a:solidFill>
                <a:latin typeface="Calibri"/>
                <a:ea typeface="Calibri"/>
              </a:rPr>
              <a:t>01 / 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